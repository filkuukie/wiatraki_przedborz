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3" r:id="rId5"/>
    <p:sldId id="264" r:id="rId6"/>
    <p:sldId id="265" r:id="rId7"/>
    <p:sldId id="258" r:id="rId8"/>
    <p:sldId id="266" r:id="rId9"/>
    <p:sldId id="260" r:id="rId10"/>
    <p:sldId id="267" r:id="rId11"/>
    <p:sldId id="261" r:id="rId12"/>
    <p:sldId id="268" r:id="rId13"/>
    <p:sldId id="262" r:id="rId14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8EC070-823D-800B-FB60-F8BD95D3AB98}" v="498" dt="2023-10-24T19:23:29.597"/>
    <p1510:client id="{C4A6FBE7-6ED6-ED5E-159B-E19CA46979C6}" v="5" dt="2023-10-24T16:14:31.138"/>
    <p1510:client id="{F87A53BE-F222-4167-B68E-35639B7B0735}" v="427" dt="2023-10-24T18:47:50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7.xml" Id="rId8" /><Relationship Type="http://schemas.openxmlformats.org/officeDocument/2006/relationships/slide" Target="slides/slide12.xml" Id="rId13" /><Relationship Type="http://schemas.openxmlformats.org/officeDocument/2006/relationships/tableStyles" Target="tableStyles.xml" Id="rId18" /><Relationship Type="http://schemas.openxmlformats.org/officeDocument/2006/relationships/slide" Target="slides/slide2.xml" Id="rId3" /><Relationship Type="http://schemas.openxmlformats.org/officeDocument/2006/relationships/slide" Target="slides/slide6.xml" Id="rId7" /><Relationship Type="http://schemas.openxmlformats.org/officeDocument/2006/relationships/slide" Target="slides/slide11.xml" Id="rId12" /><Relationship Type="http://schemas.openxmlformats.org/officeDocument/2006/relationships/theme" Target="theme/theme1.xml" Id="rId17" /><Relationship Type="http://schemas.openxmlformats.org/officeDocument/2006/relationships/slide" Target="slides/slide1.xml" Id="rId2" /><Relationship Type="http://schemas.openxmlformats.org/officeDocument/2006/relationships/viewProps" Target="viewProps.xml" Id="rId16" /><Relationship Type="http://schemas.microsoft.com/office/2015/10/relationships/revisionInfo" Target="revisionInfo.xml" Id="rId20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slide" Target="slides/slide10.xml" Id="rId11" /><Relationship Type="http://schemas.openxmlformats.org/officeDocument/2006/relationships/slide" Target="slides/slide4.xml" Id="rId5" /><Relationship Type="http://schemas.openxmlformats.org/officeDocument/2006/relationships/presProps" Target="presProps.xml" Id="rId15" /><Relationship Type="http://schemas.openxmlformats.org/officeDocument/2006/relationships/slide" Target="slides/slide9.xml" Id="rId10" /><Relationship Type="http://schemas.openxmlformats.org/officeDocument/2006/relationships/slide" Target="slides/slide3.xml" Id="rId4" /><Relationship Type="http://schemas.openxmlformats.org/officeDocument/2006/relationships/slide" Target="slides/slide8.xml" Id="rId9" /><Relationship Type="http://schemas.openxmlformats.org/officeDocument/2006/relationships/slide" Target="slides/slide13.xml" Id="rId14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24.10.2023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24.10.2023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24.10.2023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24.10.2023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24.10.2023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24.10.2023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24.10.2023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24.10.2023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24.10.2023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24.10.2023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24.10.2023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24.10.2023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tarakamienica.bip.net.pl/kategorie/3-komunikaty/artykuly/199-raport-oceny-oddzialywania-na-srodowisko-dla-przedsiewziecia-polegajacego-na-budowie-instalacji-fotowoltaicznej-wojcieszyce-z-magazynem-energii-?lang=PL" TargetMode="External"/><Relationship Id="rId2" Type="http://schemas.openxmlformats.org/officeDocument/2006/relationships/hyperlink" Target="https://rcin.org.pl/igipz/dlibra/publication/53125/edition/35474/content?fbclid=IwAR2TORGstvkdVMs0qpeVxuK6dhqRwRGhcGDYdFNTVg5bM8S1-PX9PuP_FKU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ip.szydlowo.pl/files/file_add/download/1239_k_02_8_2021_ds_dm_raport.pdf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391298" y="236794"/>
            <a:ext cx="11296134" cy="1656493"/>
          </a:xfrm>
        </p:spPr>
        <p:txBody>
          <a:bodyPr/>
          <a:lstStyle/>
          <a:p>
            <a:r>
              <a:rPr lang="pl-PL" sz="4800" b="1">
                <a:cs typeface="Calibri Light"/>
              </a:rPr>
              <a:t>Ocena przydatności terenu i środowiska </a:t>
            </a:r>
            <a:br>
              <a:rPr lang="pl-PL" sz="4800" b="1">
                <a:cs typeface="Calibri Light"/>
              </a:rPr>
            </a:br>
            <a:r>
              <a:rPr lang="pl-PL" sz="4800" b="1">
                <a:cs typeface="Calibri Light"/>
              </a:rPr>
              <a:t>pod kątem OZE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4038F703-BCED-D568-BE83-B9A5ED2F1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027" y="1970375"/>
            <a:ext cx="7405255" cy="4247285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C025F8CA-8439-9B9E-D44C-BF76C18E3ABA}"/>
              </a:ext>
            </a:extLst>
          </p:cNvPr>
          <p:cNvSpPr txBox="1"/>
          <p:nvPr/>
        </p:nvSpPr>
        <p:spPr>
          <a:xfrm>
            <a:off x="5194986" y="6222141"/>
            <a:ext cx="180614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1200">
                <a:cs typeface="Calibri"/>
              </a:rPr>
              <a:t>źródło: stock.adobe.com</a:t>
            </a:r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CA2790-A2FB-D4A1-1F51-ABC2A45BA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u="sng">
                <a:cs typeface="Calibri Light"/>
              </a:rPr>
              <a:t>Co to jest OZE?</a:t>
            </a:r>
            <a:endParaRPr lang="pl-PL" b="1" u="sng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4A9A897-B618-9E87-5C22-D6807B612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just">
              <a:buNone/>
            </a:pPr>
            <a:r>
              <a:rPr lang="pl-PL" b="1">
                <a:cs typeface="Calibri" panose="020F0502020204030204"/>
              </a:rPr>
              <a:t>OZE (odnawialne źródła energii)</a:t>
            </a:r>
            <a:r>
              <a:rPr lang="pl-PL">
                <a:cs typeface="Calibri" panose="020F0502020204030204"/>
              </a:rPr>
              <a:t> to forma produkcji energii, która korzysta z naturalnych zasobów, które są nieograniczone lub mogą się szybko odtworzyć. Obejmuje to różne źródła energii, takie jak energia słoneczna, wiatrowa, wodna (hydroenergia), geotermalna i biomasa. Główną ideą jest minimalizacja negatywnego wpływu na środowisko, ponieważ tego rodzaju źródła energii są bardziej zrównoważone i emitują mniej gazów cieplarnianych w porównaniu do tradycyjnych źródeł, takich jak spalanie paliw kopalnych.</a:t>
            </a:r>
          </a:p>
          <a:p>
            <a:pPr marL="0" indent="0" algn="just">
              <a:buNone/>
            </a:pPr>
            <a:r>
              <a:rPr lang="pl-PL">
                <a:cs typeface="Calibri" panose="020F0502020204030204"/>
              </a:rPr>
              <a:t>Energetyka odnawialna staje się coraz bardziej istotna w kontekście zmian klimatycznych i poszukiwania alternatywnych, ekologicznych źródeł energii, aby zaspokoić rosnące potrzeby społeczeństwa.</a:t>
            </a:r>
          </a:p>
          <a:p>
            <a:pPr marL="0" indent="0">
              <a:buNone/>
            </a:pPr>
            <a:endParaRPr lang="pl-PL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98212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763D02-63F0-9CDF-742F-8A139A2A0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u="sng">
                <a:cs typeface="Calibri Light"/>
              </a:rPr>
              <a:t>Energia wiatrowa</a:t>
            </a:r>
            <a:endParaRPr lang="pl-PL" b="1" u="sng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A05A942-832E-7416-4D76-6E6D4F710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pl-PL" b="1">
                <a:ea typeface="+mn-lt"/>
                <a:cs typeface="+mn-lt"/>
              </a:rPr>
              <a:t>Elektrownie wiatrowe</a:t>
            </a:r>
            <a:r>
              <a:rPr lang="pl-PL">
                <a:ea typeface="+mn-lt"/>
                <a:cs typeface="+mn-lt"/>
              </a:rPr>
              <a:t> są najbardziej efektywne w miejscach o stałym i silnym wietrze. Najlepsze warunki do budowy elektrowni wiatrowych obejmują obszary o wysokich prędkościach wiatru, zazwyczaj na otwartych obszarach bez dużych przeszkód. Wybierane są tereny o średniej prędkości wiatru co najmniej 5,4 metra na sekundę na wysokości 10 metrów nad powierzchnią ziemi.</a:t>
            </a:r>
            <a:br>
              <a:rPr lang="pl-PL">
                <a:ea typeface="+mn-lt"/>
                <a:cs typeface="+mn-lt"/>
              </a:rPr>
            </a:br>
            <a:br>
              <a:rPr lang="pl-PL">
                <a:ea typeface="+mn-lt"/>
                <a:cs typeface="+mn-lt"/>
              </a:rPr>
            </a:br>
            <a:r>
              <a:rPr lang="pl-PL">
                <a:ea typeface="+mn-lt"/>
                <a:cs typeface="+mn-lt"/>
              </a:rPr>
              <a:t>Wiatr wieje silniej na wybrzeżach, na wysoko położonych obszarach górskich oraz na otwartych przestrzeniach, takich jak równiny.</a:t>
            </a:r>
            <a:endParaRPr lang="pl-PL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52441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763D02-63F0-9CDF-742F-8A139A2A0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u="sng">
                <a:cs typeface="Calibri Light"/>
              </a:rPr>
              <a:t>Energia wiatrowa</a:t>
            </a:r>
            <a:endParaRPr lang="pl-PL" b="1" u="sng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A05A942-832E-7416-4D76-6E6D4F710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pl-PL">
                <a:cs typeface="Calibri"/>
              </a:rPr>
              <a:t>Ukształtowanie terenu ma istotny wpływ na efektywność elektrowni wiatrowych. Aspekty, które są brane pod uwagę:</a:t>
            </a:r>
          </a:p>
          <a:p>
            <a:pPr algn="just"/>
            <a:r>
              <a:rPr lang="pl-PL" b="1">
                <a:cs typeface="Calibri"/>
              </a:rPr>
              <a:t>Wysokość terenu</a:t>
            </a:r>
            <a:r>
              <a:rPr lang="pl-PL">
                <a:cs typeface="Calibri"/>
              </a:rPr>
              <a:t> - im wyżej znajduje się elektrownia wiatrowa, tym większe są prędkości wiatru. Tereny górzyste mogą być zatem atrakcyjne, ale jednocześnie mogą wprowadzać wyzwania związane z instalacją i utrzymaniem turbin na stromych zboczach.</a:t>
            </a:r>
          </a:p>
          <a:p>
            <a:pPr algn="just"/>
            <a:r>
              <a:rPr lang="pl-PL" b="1">
                <a:cs typeface="Calibri"/>
              </a:rPr>
              <a:t>Przeszkody terenowe</a:t>
            </a:r>
            <a:r>
              <a:rPr lang="pl-PL">
                <a:cs typeface="Calibri"/>
              </a:rPr>
              <a:t> - elementy terenu, takie jak wzgórza, lasy czy budynki, mogą wpływać na kierunek i prędkość wiatru. Elektrownie wiatrowe są bardziej efektywne na otwartych obszarach bez dużych przeszkód.</a:t>
            </a:r>
          </a:p>
        </p:txBody>
      </p:sp>
    </p:spTree>
    <p:extLst>
      <p:ext uri="{BB962C8B-B14F-4D97-AF65-F5344CB8AC3E}">
        <p14:creationId xmlns:p14="http://schemas.microsoft.com/office/powerpoint/2010/main" val="3783332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763D02-63F0-9CDF-742F-8A139A2A0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u="sng">
                <a:cs typeface="Calibri Light"/>
              </a:rPr>
              <a:t>Energia wiatrowa</a:t>
            </a:r>
            <a:endParaRPr lang="pl-PL" b="1">
              <a:cs typeface="Calibri Light" panose="020F0302020204030204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A05A942-832E-7416-4D76-6E6D4F710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457200" indent="-457200" algn="just"/>
            <a:r>
              <a:rPr lang="pl-PL" b="1">
                <a:cs typeface="Calibri"/>
              </a:rPr>
              <a:t>Bliskość wybrzeża</a:t>
            </a:r>
            <a:r>
              <a:rPr lang="pl-PL">
                <a:cs typeface="Calibri"/>
              </a:rPr>
              <a:t> - wybrzeża często charakteryzują się silniejszymi wiatrami, co sprawia, że są atrakcyjne lokalizacjami dla elektrowni wiatrowych.</a:t>
            </a:r>
          </a:p>
          <a:p>
            <a:pPr marL="457200" indent="-457200" algn="just"/>
            <a:r>
              <a:rPr lang="pl-PL" b="1">
                <a:cs typeface="Calibri"/>
              </a:rPr>
              <a:t>Równiny</a:t>
            </a:r>
            <a:r>
              <a:rPr lang="pl-PL">
                <a:cs typeface="Calibri"/>
              </a:rPr>
              <a:t> - obszary równin mogą być również dogodne, zwłaszcza jeśli są otwarte i charakteryzują się stałymi prędkościami wiatru.</a:t>
            </a:r>
          </a:p>
          <a:p>
            <a:pPr marL="457200" indent="-457200" algn="just"/>
            <a:r>
              <a:rPr lang="pl-PL" b="1">
                <a:cs typeface="Calibri"/>
              </a:rPr>
              <a:t>Badania wiatru</a:t>
            </a:r>
            <a:r>
              <a:rPr lang="pl-PL">
                <a:cs typeface="Calibri"/>
              </a:rPr>
              <a:t> - przeprowadzenie dokładnych badań wiatrowych w danym obszarze jest kluczowe dla oceny potencjału energetycznego. Te badania obejmują analizę kierunków i prędkości wiatru na różnych wysokościach.</a:t>
            </a:r>
            <a:endParaRPr lang="pl-PL"/>
          </a:p>
          <a:p>
            <a:pPr marL="457200" indent="-457200" algn="just"/>
            <a:endParaRPr lang="pl-PL">
              <a:cs typeface="Calibri"/>
            </a:endParaRPr>
          </a:p>
          <a:p>
            <a:pPr marL="457200" indent="-457200" algn="just"/>
            <a:endParaRPr lang="pl-PL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7193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C9056B-641C-568A-47AE-2B24CB3AC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u="sng">
                <a:cs typeface="Calibri Light"/>
              </a:rPr>
              <a:t>Energia wiatrowa</a:t>
            </a:r>
            <a:endParaRPr lang="pl-PL" b="1" u="sng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8E1C0D1-D30B-3CD3-337B-03C6CB484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just">
              <a:buNone/>
            </a:pPr>
            <a:r>
              <a:rPr lang="pl-PL">
                <a:cs typeface="Calibri"/>
              </a:rPr>
              <a:t>Odległość elektrowni wiatrowych od cieków wodnych i wód powierzchniowych jest jednym z czynników, które są brane pod uwagę podczas planowania i budowy ze względu na:</a:t>
            </a:r>
            <a:endParaRPr lang="pl-PL"/>
          </a:p>
          <a:p>
            <a:pPr algn="just"/>
            <a:r>
              <a:rPr lang="pl-PL" b="1">
                <a:cs typeface="Calibri"/>
              </a:rPr>
              <a:t>Bezpieczeństwo</a:t>
            </a:r>
          </a:p>
          <a:p>
            <a:pPr algn="just"/>
            <a:r>
              <a:rPr lang="pl-PL" b="1">
                <a:cs typeface="Calibri"/>
              </a:rPr>
              <a:t>Środowisko wodne</a:t>
            </a:r>
          </a:p>
          <a:p>
            <a:pPr algn="just"/>
            <a:r>
              <a:rPr lang="pl-PL" b="1">
                <a:cs typeface="Calibri"/>
              </a:rPr>
              <a:t>Zasolenie powietrza</a:t>
            </a:r>
            <a:r>
              <a:rPr lang="pl-PL">
                <a:cs typeface="Calibri"/>
              </a:rPr>
              <a:t> - wiatry znad morza często są bardziej korzystne dla elektrowni wiatrowych. Jednakże, w przypadku elektrowni wiatrowych na lądzie, zasolenie powietrza może wpływać na zużycie i korozję.</a:t>
            </a:r>
          </a:p>
          <a:p>
            <a:pPr algn="just"/>
            <a:r>
              <a:rPr lang="pl-PL" b="1">
                <a:cs typeface="Calibri"/>
              </a:rPr>
              <a:t>Zmienność poziomu wód</a:t>
            </a:r>
            <a:r>
              <a:rPr lang="pl-PL">
                <a:cs typeface="Calibri"/>
              </a:rPr>
              <a:t> - np. ze względu na ryzyko wylewu wód</a:t>
            </a:r>
          </a:p>
          <a:p>
            <a:pPr algn="just"/>
            <a:endParaRPr lang="pl-PL">
              <a:cs typeface="Calibri"/>
            </a:endParaRPr>
          </a:p>
          <a:p>
            <a:pPr marL="0" indent="0">
              <a:buNone/>
            </a:pPr>
            <a:endParaRPr lang="pl-PL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0553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F8C332F-EAF0-1C86-AFF3-3D1520222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u="sng">
                <a:cs typeface="Calibri Light"/>
              </a:rPr>
              <a:t>Energia wodna</a:t>
            </a:r>
            <a:endParaRPr lang="pl-PL" b="1" u="sng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96AB73C-C8F4-6CAA-6B13-DC71513E8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just">
              <a:buNone/>
            </a:pPr>
            <a:r>
              <a:rPr lang="pl-PL">
                <a:cs typeface="Calibri" panose="020F0502020204030204"/>
              </a:rPr>
              <a:t>Kwestie brane zazwyczaj pod uwagę podczas oceny przydatności środowiska przyrodniczego dla energii wodnej:</a:t>
            </a:r>
            <a:endParaRPr lang="pl-PL"/>
          </a:p>
          <a:p>
            <a:pPr marL="457200" indent="-457200" algn="just"/>
            <a:r>
              <a:rPr lang="pl-PL" b="1">
                <a:cs typeface="Calibri" panose="020F0502020204030204"/>
              </a:rPr>
              <a:t>Rzeki i strumienie</a:t>
            </a:r>
            <a:r>
              <a:rPr lang="pl-PL">
                <a:cs typeface="Calibri" panose="020F0502020204030204"/>
              </a:rPr>
              <a:t> - badanie strumieni i rzek pod kątem ilości wody i jej stałego dopływu jest kluczowe. Duże i stałe przepływy wody sprzyjają efektywności energetycznej.</a:t>
            </a:r>
          </a:p>
          <a:p>
            <a:pPr marL="457200" indent="-457200" algn="just"/>
            <a:r>
              <a:rPr lang="pl-PL" b="1">
                <a:cs typeface="Calibri" panose="020F0502020204030204"/>
              </a:rPr>
              <a:t>Topografia</a:t>
            </a:r>
            <a:r>
              <a:rPr lang="pl-PL">
                <a:cs typeface="Calibri" panose="020F0502020204030204"/>
              </a:rPr>
              <a:t> - rzeźba terenu ma wpływ na możliwość utworzenia zbiornika wodnego. Tereny górzyste często są bardziej przyjazne dla budowy elektrowni wodnej.</a:t>
            </a:r>
          </a:p>
          <a:p>
            <a:pPr marL="457200" indent="-457200" algn="just"/>
            <a:r>
              <a:rPr lang="pl-PL" b="1">
                <a:cs typeface="Calibri" panose="020F0502020204030204"/>
              </a:rPr>
              <a:t>Bioróżnorodność</a:t>
            </a:r>
            <a:r>
              <a:rPr lang="pl-PL">
                <a:cs typeface="Calibri" panose="020F0502020204030204"/>
              </a:rPr>
              <a:t> - konieczne jest zbadanie wpływu budowy elektrowni wodnej na miejscową bioróżnorodność. Może to obejmować migrację ryb, ptaków i inne aspekty ekosystemu.</a:t>
            </a:r>
          </a:p>
          <a:p>
            <a:pPr marL="0" indent="0" algn="just">
              <a:buNone/>
            </a:pPr>
            <a:endParaRPr lang="pl-PL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6001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F8C332F-EAF0-1C86-AFF3-3D1520222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u="sng">
                <a:cs typeface="Calibri Light"/>
              </a:rPr>
              <a:t>Energia wodna</a:t>
            </a:r>
            <a:endParaRPr lang="pl-PL" b="1" u="sng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96AB73C-C8F4-6CAA-6B13-DC71513E8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pPr marL="457200" indent="-457200" algn="just"/>
            <a:r>
              <a:rPr lang="pl-PL" b="1">
                <a:cs typeface="Calibri" panose="020F0502020204030204"/>
              </a:rPr>
              <a:t>Skutki środowiskowe</a:t>
            </a:r>
            <a:r>
              <a:rPr lang="pl-PL">
                <a:cs typeface="Calibri" panose="020F0502020204030204"/>
              </a:rPr>
              <a:t> - budowa elektrowni wodnej może wpływać na lokalne środowisko, w tym na glebę, roślinność i jakość wody. Skutki te powinny być dokładnie zbadane.</a:t>
            </a:r>
          </a:p>
          <a:p>
            <a:pPr marL="457200" indent="-457200" algn="just"/>
            <a:r>
              <a:rPr lang="pl-PL" b="1">
                <a:cs typeface="Calibri" panose="020F0502020204030204"/>
              </a:rPr>
              <a:t>Aspekty społeczne</a:t>
            </a:r>
            <a:r>
              <a:rPr lang="pl-PL">
                <a:cs typeface="Calibri" panose="020F0502020204030204"/>
              </a:rPr>
              <a:t> - wpływ na społeczność lokalną, w tym na ich dostęp do zasobów wodnych i środków do życia, również jest istotny.</a:t>
            </a:r>
          </a:p>
          <a:p>
            <a:pPr marL="457200" indent="-457200" algn="just"/>
            <a:r>
              <a:rPr lang="pl-PL" b="1">
                <a:cs typeface="Calibri" panose="020F0502020204030204"/>
              </a:rPr>
              <a:t>Zmiany klimatyczne</a:t>
            </a:r>
            <a:r>
              <a:rPr lang="pl-PL">
                <a:cs typeface="Calibri" panose="020F0502020204030204"/>
              </a:rPr>
              <a:t> - zmiany w cyklach wodnych i wzrost temperatury mogą wpływać na długoterminową wydajność elektrowni wodnej.</a:t>
            </a:r>
            <a:endParaRPr lang="pl-PL"/>
          </a:p>
          <a:p>
            <a:pPr marL="457200" indent="-457200" algn="just"/>
            <a:r>
              <a:rPr lang="pl-PL" b="1">
                <a:cs typeface="Calibri" panose="020F0502020204030204"/>
              </a:rPr>
              <a:t>Zakłócenia wodne</a:t>
            </a:r>
            <a:r>
              <a:rPr lang="pl-PL">
                <a:cs typeface="Calibri" panose="020F0502020204030204"/>
              </a:rPr>
              <a:t> - warto zastanowić się, czy dany obszar nie jest podatny na ekstremalne zjawiska, takie jak powodzie czy susze, które mogą wpływać na funkcjonowanie elektrowni.</a:t>
            </a:r>
            <a:endParaRPr lang="pl-PL"/>
          </a:p>
          <a:p>
            <a:pPr marL="457200" indent="-457200" algn="just"/>
            <a:endParaRPr lang="pl-PL">
              <a:cs typeface="Calibri" panose="020F0502020204030204"/>
            </a:endParaRPr>
          </a:p>
          <a:p>
            <a:pPr marL="457200" indent="-457200" algn="just"/>
            <a:endParaRPr lang="pl-PL">
              <a:cs typeface="Calibri" panose="020F0502020204030204"/>
            </a:endParaRPr>
          </a:p>
          <a:p>
            <a:pPr marL="0" indent="0" algn="just">
              <a:buNone/>
            </a:pPr>
            <a:endParaRPr lang="pl-PL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15478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11C5F2-E382-821E-4FED-AEFC93E87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u="sng">
                <a:cs typeface="Calibri Light"/>
              </a:rPr>
              <a:t>Energia słoneczna</a:t>
            </a:r>
            <a:endParaRPr lang="pl-PL" b="1" u="sng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52A4B73-A9C7-9EEA-8439-2E9DBDDB5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just">
              <a:buNone/>
            </a:pPr>
            <a:r>
              <a:rPr lang="pl-PL">
                <a:cs typeface="Calibri" panose="020F0502020204030204"/>
              </a:rPr>
              <a:t>Przy ocenie przydatności środowiska przyrodniczego dla energii słonecznej należy uwzględnić czynniki:</a:t>
            </a:r>
          </a:p>
          <a:p>
            <a:pPr marL="457200" indent="-457200" algn="just"/>
            <a:r>
              <a:rPr lang="pl-PL" b="1">
                <a:cs typeface="Calibri" panose="020F0502020204030204"/>
              </a:rPr>
              <a:t>Nasłonecznienie</a:t>
            </a:r>
            <a:r>
              <a:rPr lang="pl-PL">
                <a:cs typeface="Calibri"/>
              </a:rPr>
              <a:t> - obszary o wysokim nasłonecznieniu są bardziej odpowiednie do produkcji energii słonecznej. Analiza ilości dni słonecznych i średnich godzin nasłonecznienia jest kluczowa.</a:t>
            </a:r>
          </a:p>
          <a:p>
            <a:pPr marL="457200" indent="-457200" algn="just"/>
            <a:r>
              <a:rPr lang="pl-PL" b="1">
                <a:cs typeface="Calibri"/>
              </a:rPr>
              <a:t>Topografia</a:t>
            </a:r>
            <a:r>
              <a:rPr lang="pl-PL">
                <a:cs typeface="Calibri"/>
              </a:rPr>
              <a:t> - teren musi być odpowiedni do instalacji paneli słonecznych. Tereny o niewielkim nachyleniu i bez dużych przeszkód mogą być bardziej efektywne.</a:t>
            </a:r>
          </a:p>
          <a:p>
            <a:pPr marL="457200" indent="-457200" algn="just"/>
            <a:r>
              <a:rPr lang="pl-PL" b="1">
                <a:cs typeface="Calibri"/>
              </a:rPr>
              <a:t>Klimat</a:t>
            </a:r>
            <a:r>
              <a:rPr lang="pl-PL">
                <a:cs typeface="Calibri"/>
              </a:rPr>
              <a:t> - warunki atmosferyczne, takie jak opady deszczu czy mgła, mogą wpływać na efektywność paneli słonecznych. Ocenia się, czy obszar jest podatny na ekstremalne zjawiska atmosferyczne.</a:t>
            </a:r>
          </a:p>
        </p:txBody>
      </p:sp>
    </p:spTree>
    <p:extLst>
      <p:ext uri="{BB962C8B-B14F-4D97-AF65-F5344CB8AC3E}">
        <p14:creationId xmlns:p14="http://schemas.microsoft.com/office/powerpoint/2010/main" val="3796826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11C5F2-E382-821E-4FED-AEFC93E87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u="sng">
                <a:cs typeface="Calibri Light"/>
              </a:rPr>
              <a:t>Energia słoneczna</a:t>
            </a:r>
            <a:endParaRPr lang="pl-PL" b="1" u="sng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52A4B73-A9C7-9EEA-8439-2E9DBDDB5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57200" indent="-457200" algn="just"/>
            <a:r>
              <a:rPr lang="pl-PL" b="1">
                <a:cs typeface="Calibri" panose="020F0502020204030204"/>
              </a:rPr>
              <a:t>Zabudowa miejska</a:t>
            </a:r>
            <a:r>
              <a:rPr lang="pl-PL">
                <a:cs typeface="Calibri" panose="020F0502020204030204"/>
              </a:rPr>
              <a:t> - w obszarach o dużej zabudowie miejskiej może być trudniej znaleźć miejsca do instalacji paneli słonecznych na dużą skalę. Konieczne jest znalezienie dostępnych powierzchni i konstrukcji wspierających instalację paneli.</a:t>
            </a:r>
          </a:p>
          <a:p>
            <a:pPr marL="457200" indent="-457200" algn="just"/>
            <a:r>
              <a:rPr lang="pl-PL" b="1">
                <a:cs typeface="Calibri" panose="020F0502020204030204"/>
              </a:rPr>
              <a:t>Bioróżnorodność</a:t>
            </a:r>
            <a:r>
              <a:rPr lang="pl-PL">
                <a:cs typeface="Calibri" panose="020F0502020204030204"/>
              </a:rPr>
              <a:t> - podobnie jak w przypadku energii wodnej, należy uwzględnić wpływ na lokalną bioróżnorodność. Na przykład, rozmieszczenie paneli nie powinno negatywnie wpływać na ekosystemy lokalne.</a:t>
            </a:r>
          </a:p>
          <a:p>
            <a:pPr marL="457200" indent="-457200" algn="just"/>
            <a:r>
              <a:rPr lang="pl-PL" b="1">
                <a:cs typeface="Calibri" panose="020F0502020204030204"/>
              </a:rPr>
              <a:t>Bezpieczeństwo</a:t>
            </a:r>
            <a:r>
              <a:rPr lang="pl-PL">
                <a:cs typeface="Calibri" panose="020F0502020204030204"/>
              </a:rPr>
              <a:t> - w niektórych obszarach bezpieczeństwo może być kwestią kluczową. Konieczne jest ocenienie ryzyka związanego z kradzieżami lub uszkodzeniem paneli słonecznych.</a:t>
            </a:r>
          </a:p>
          <a:p>
            <a:pPr marL="457200" indent="-457200" algn="just"/>
            <a:r>
              <a:rPr lang="pl-PL" b="1">
                <a:cs typeface="Calibri" panose="020F0502020204030204"/>
              </a:rPr>
              <a:t>Zmiany klimatyczne </a:t>
            </a:r>
            <a:r>
              <a:rPr lang="pl-PL">
                <a:cs typeface="Calibri" panose="020F0502020204030204"/>
              </a:rPr>
              <a:t>- analogicznie do energii wodnej, zmiany klimatyczne mogą wpływać na długoterminową wydajność instalacji solarnych</a:t>
            </a:r>
          </a:p>
        </p:txBody>
      </p:sp>
    </p:spTree>
    <p:extLst>
      <p:ext uri="{BB962C8B-B14F-4D97-AF65-F5344CB8AC3E}">
        <p14:creationId xmlns:p14="http://schemas.microsoft.com/office/powerpoint/2010/main" val="1226099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69FA2E-D988-DB2D-F507-B0DDDECB9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u="sng">
                <a:cs typeface="Calibri Light"/>
              </a:rPr>
              <a:t>Przykładowe OZE na podstawie kilku obszarów</a:t>
            </a:r>
            <a:endParaRPr lang="pl-PL" b="1" u="sng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29F7EDD-FE96-EAF1-73E1-AE94F7538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>
                <a:ea typeface="+mn-lt"/>
                <a:cs typeface="+mn-lt"/>
                <a:hlinkClick r:id="rId2"/>
              </a:rPr>
              <a:t>https://rcin.org.pl/igipz/dlibra/publication/53125/edition/35474/content?fbclid=IwAR2TORGstvkdVMs0qpeVxuK6dhqRwRGhcGDYdFNTVg5bM8S1-PX9PuP_FKU</a:t>
            </a:r>
            <a:endParaRPr lang="pl-PL">
              <a:cs typeface="Calibri"/>
            </a:endParaRPr>
          </a:p>
          <a:p>
            <a:r>
              <a:rPr lang="pl-PL">
                <a:ea typeface="+mn-lt"/>
                <a:cs typeface="+mn-lt"/>
                <a:hlinkClick r:id="rId3"/>
              </a:rPr>
              <a:t>https://starakamienica.bip.net.pl/kategorie/3-komunikaty/artykuly/199-raport-oceny-oddzialywania-na-srodowisko-dla-przedsiewziecia-polegajacego-na-budowie-instalacji-fotowoltaicznej-wojcieszyce-z-magazynem-energii-?lang=PL</a:t>
            </a:r>
            <a:endParaRPr lang="pl-PL">
              <a:cs typeface="Calibri"/>
            </a:endParaRPr>
          </a:p>
          <a:p>
            <a:r>
              <a:rPr lang="pl-PL">
                <a:ea typeface="+mn-lt"/>
                <a:cs typeface="+mn-lt"/>
                <a:hlinkClick r:id="rId4"/>
              </a:rPr>
              <a:t>https://bip.szydlowo.pl/files/file_add/download/1239_k_02_8_2021_ds_dm_raport.pdf</a:t>
            </a:r>
            <a:r>
              <a:rPr lang="pl-PL">
                <a:ea typeface="+mn-lt"/>
                <a:cs typeface="+mn-lt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822950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704F0D-AA42-AC04-2395-790DAD9B0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u="sng">
                <a:cs typeface="Calibri Light"/>
              </a:rPr>
              <a:t>Bibliografia</a:t>
            </a:r>
            <a:endParaRPr lang="pl-PL" u="sng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BE4509E-6CBB-550E-B563-A2310621E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just"/>
            <a:r>
              <a:rPr lang="pl-PL" sz="2400">
                <a:ea typeface="+mn-lt"/>
                <a:cs typeface="+mn-lt"/>
              </a:rPr>
              <a:t>RAPORT O ODDZIAŁYWANIU PRZEDSIĘWZIĘCIA NA ŚRODOWISKO „Farma fotowoltaiczna Kotuń”, mgr inż. Rafał </a:t>
            </a:r>
            <a:r>
              <a:rPr lang="pl-PL" sz="2400" err="1">
                <a:ea typeface="+mn-lt"/>
                <a:cs typeface="+mn-lt"/>
              </a:rPr>
              <a:t>Odrobiński</a:t>
            </a:r>
            <a:r>
              <a:rPr lang="pl-PL" sz="2400">
                <a:ea typeface="+mn-lt"/>
                <a:cs typeface="+mn-lt"/>
              </a:rPr>
              <a:t>, DOBRA ENERGIA, 2020</a:t>
            </a:r>
            <a:endParaRPr lang="pl-PL"/>
          </a:p>
          <a:p>
            <a:pPr algn="just"/>
            <a:r>
              <a:rPr lang="pl-PL" sz="2400">
                <a:ea typeface="+mn-lt"/>
                <a:cs typeface="+mn-lt"/>
              </a:rPr>
              <a:t>Raport oceny oddziaływania na środowisko dla inwestycji polegającej na budowie: Instalacji fotowoltaicznej "Wojcieszyce" z magazynem energii, mgr inż. Joanna Dobiecka, 2021</a:t>
            </a:r>
          </a:p>
          <a:p>
            <a:pPr algn="just"/>
            <a:r>
              <a:rPr lang="pl-PL" sz="2400">
                <a:ea typeface="+mn-lt"/>
                <a:cs typeface="+mn-lt"/>
              </a:rPr>
              <a:t>Wielokryterialna ocena przydatności terenu do rozwoju energetyki wiatrowej na przykładzie gminy Rymanów, Wojciech Synowiec, Małgorzata </a:t>
            </a:r>
            <a:r>
              <a:rPr lang="pl-PL" sz="2400" err="1">
                <a:ea typeface="+mn-lt"/>
                <a:cs typeface="+mn-lt"/>
              </a:rPr>
              <a:t>Luc</a:t>
            </a:r>
            <a:r>
              <a:rPr lang="pl-PL" sz="2400">
                <a:ea typeface="+mn-lt"/>
                <a:cs typeface="+mn-lt"/>
              </a:rPr>
              <a:t>, 2013</a:t>
            </a:r>
          </a:p>
          <a:p>
            <a:pPr algn="just"/>
            <a:r>
              <a:rPr lang="pl-PL" sz="2400">
                <a:cs typeface="Calibri" panose="020F0502020204030204"/>
              </a:rPr>
              <a:t>https://eon.pl/dla-biznesu/firmy-i-instytucje/baza-wiedzy/artykuly/elektrownie-wiatrowe-jak-dzialaja-i-czy-warto-w-nie-inwestowac</a:t>
            </a:r>
          </a:p>
          <a:p>
            <a:pPr algn="just"/>
            <a:r>
              <a:rPr lang="pl-PL" sz="2400">
                <a:cs typeface="Calibri" panose="020F0502020204030204"/>
              </a:rPr>
              <a:t>http://yadda.icm.edu.pl/baztech/element/bwmeta1.element.baztech-413e93cc-d6ab-41e6-8dd7-459621ab0158</a:t>
            </a:r>
          </a:p>
          <a:p>
            <a:pPr algn="just"/>
            <a:r>
              <a:rPr lang="pl-PL" sz="2400">
                <a:cs typeface="Calibri" panose="020F0502020204030204"/>
              </a:rPr>
              <a:t>https://yadda.icm.edu.pl/baztech/element/bwmeta1.element.baztech-fd8fb186-30e8-4f1d-9c02-45742e7677ab</a:t>
            </a:r>
          </a:p>
          <a:p>
            <a:pPr marL="0" indent="0" algn="just">
              <a:buNone/>
            </a:pPr>
            <a:endParaRPr lang="pl-PL" sz="240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68026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526FFC7-F4B4-9003-A046-9127879C4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18855"/>
            <a:ext cx="10515600" cy="1016645"/>
          </a:xfrm>
        </p:spPr>
        <p:txBody>
          <a:bodyPr>
            <a:normAutofit/>
          </a:bodyPr>
          <a:lstStyle/>
          <a:p>
            <a:pPr algn="ctr"/>
            <a:r>
              <a:rPr lang="pl-PL" sz="6000" b="1">
                <a:cs typeface="Calibri Light"/>
              </a:rPr>
              <a:t>Koniec</a:t>
            </a:r>
          </a:p>
        </p:txBody>
      </p:sp>
      <p:sp>
        <p:nvSpPr>
          <p:cNvPr id="5" name="Podtytuł 2">
            <a:extLst>
              <a:ext uri="{FF2B5EF4-FFF2-40B4-BE49-F238E27FC236}">
                <a16:creationId xmlns:a16="http://schemas.microsoft.com/office/drawing/2014/main" id="{E9C3CFB9-DFFC-AC39-0D60-C32923AB66F2}"/>
              </a:ext>
            </a:extLst>
          </p:cNvPr>
          <p:cNvSpPr txBox="1">
            <a:spLocks/>
          </p:cNvSpPr>
          <p:nvPr/>
        </p:nvSpPr>
        <p:spPr>
          <a:xfrm>
            <a:off x="1524000" y="396244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l-PL" sz="2000">
                <a:cs typeface="Calibri"/>
              </a:rPr>
              <a:t>Filip Kukulski, Karolina Krawczyk </a:t>
            </a:r>
          </a:p>
          <a:p>
            <a:pPr marL="0" indent="0" algn="ctr">
              <a:buNone/>
            </a:pPr>
            <a:r>
              <a:rPr lang="pl-PL" sz="2000">
                <a:cs typeface="Calibri"/>
              </a:rPr>
              <a:t>geoinformacja </a:t>
            </a:r>
          </a:p>
        </p:txBody>
      </p:sp>
    </p:spTree>
    <p:extLst>
      <p:ext uri="{BB962C8B-B14F-4D97-AF65-F5344CB8AC3E}">
        <p14:creationId xmlns:p14="http://schemas.microsoft.com/office/powerpoint/2010/main" val="161199935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Motyw pakietu Office</vt:lpstr>
      <vt:lpstr>Ocena przydatności terenu i środowiska  pod kątem OZE</vt:lpstr>
      <vt:lpstr>Co to jest OZE?</vt:lpstr>
      <vt:lpstr>Energia wiatrowa</vt:lpstr>
      <vt:lpstr>Energia wiatrowa</vt:lpstr>
      <vt:lpstr>Energia wiatrowa</vt:lpstr>
      <vt:lpstr>Energia wiatrowa</vt:lpstr>
      <vt:lpstr>Energia wodna</vt:lpstr>
      <vt:lpstr>Energia wodna</vt:lpstr>
      <vt:lpstr>Energia słoneczna</vt:lpstr>
      <vt:lpstr>Energia słoneczna</vt:lpstr>
      <vt:lpstr>Przykładowe OZE na podstawie kilku obszarów</vt:lpstr>
      <vt:lpstr>Bibliografia</vt:lpstr>
      <vt:lpstr>Koniec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/>
  <cp:revision>1</cp:revision>
  <dcterms:created xsi:type="dcterms:W3CDTF">2023-10-24T15:59:12Z</dcterms:created>
  <dcterms:modified xsi:type="dcterms:W3CDTF">2023-10-24T19:24:05Z</dcterms:modified>
</cp:coreProperties>
</file>